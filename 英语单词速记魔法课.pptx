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0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1553" y="323999"/>
            <a:ext cx="3340745" cy="1596926"/>
          </a:xfrm>
          <a:prstGeom prst="roundRect">
            <a:avLst>
              <a:gd name="adj" fmla="val 39764"/>
            </a:avLst>
          </a:prstGeom>
          <a:solidFill>
            <a:srgbClr val="FF6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09504" y="870049"/>
            <a:ext cx="237134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魔法课程 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301925"/>
            <a:ext cx="5596128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英语单词速记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517428" y="3841700"/>
            <a:ext cx="419132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3200"/>
              </a:spcAft>
              <a:buNone/>
            </a:pPr>
            <a:r>
              <a:rPr lang="en-US" sz="3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10个单词，轻松牢记！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FF6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目录 - 10个魔法单词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44401" y="1066800"/>
            <a:ext cx="4032349" cy="704552"/>
          </a:xfrm>
          <a:prstGeom prst="roundRect">
            <a:avLst>
              <a:gd name="adj" fmla="val 72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63451" y="1066800"/>
            <a:ext cx="0" cy="704552"/>
          </a:xfrm>
          <a:prstGeom prst="line">
            <a:avLst/>
          </a:prstGeom>
          <a:noFill/>
          <a:ln w="381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451" y="1295251"/>
            <a:ext cx="3815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available - 可用的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4401" y="1809452"/>
            <a:ext cx="4032349" cy="704552"/>
          </a:xfrm>
          <a:prstGeom prst="roundRect">
            <a:avLst>
              <a:gd name="adj" fmla="val 72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3451" y="1809452"/>
            <a:ext cx="0" cy="704552"/>
          </a:xfrm>
          <a:prstGeom prst="line">
            <a:avLst/>
          </a:prstGeom>
          <a:noFill/>
          <a:ln w="381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451" y="2037904"/>
            <a:ext cx="3815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reserve - 预订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4401" y="2552105"/>
            <a:ext cx="4032349" cy="704552"/>
          </a:xfrm>
          <a:prstGeom prst="roundRect">
            <a:avLst>
              <a:gd name="adj" fmla="val 72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3451" y="2552105"/>
            <a:ext cx="0" cy="704552"/>
          </a:xfrm>
          <a:prstGeom prst="line">
            <a:avLst/>
          </a:prstGeom>
          <a:noFill/>
          <a:ln w="381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451" y="2780556"/>
            <a:ext cx="3815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range of - 一系列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4401" y="3294757"/>
            <a:ext cx="4032349" cy="704552"/>
          </a:xfrm>
          <a:prstGeom prst="roundRect">
            <a:avLst>
              <a:gd name="adj" fmla="val 72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3451" y="3294757"/>
            <a:ext cx="0" cy="704552"/>
          </a:xfrm>
          <a:prstGeom prst="line">
            <a:avLst/>
          </a:prstGeom>
          <a:noFill/>
          <a:ln w="381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451" y="3523208"/>
            <a:ext cx="3815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 advance - 提前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4401" y="4037409"/>
            <a:ext cx="4032349" cy="704552"/>
          </a:xfrm>
          <a:prstGeom prst="roundRect">
            <a:avLst>
              <a:gd name="adj" fmla="val 72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3451" y="4037409"/>
            <a:ext cx="0" cy="704552"/>
          </a:xfrm>
          <a:prstGeom prst="line">
            <a:avLst/>
          </a:prstGeom>
          <a:noFill/>
          <a:ln w="38100">
            <a:solidFill>
              <a:srgbClr val="FF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451" y="4265861"/>
            <a:ext cx="3815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produce - 生产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7250" y="1066800"/>
            <a:ext cx="4032349" cy="704552"/>
          </a:xfrm>
          <a:prstGeom prst="roundRect">
            <a:avLst>
              <a:gd name="adj" fmla="val 72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86300" y="1066800"/>
            <a:ext cx="0" cy="704552"/>
          </a:xfrm>
          <a:prstGeom prst="line">
            <a:avLst/>
          </a:prstGeom>
          <a:noFill/>
          <a:ln w="381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2300" y="1295251"/>
            <a:ext cx="3815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application - 申请/app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7250" y="1809452"/>
            <a:ext cx="4032349" cy="704552"/>
          </a:xfrm>
          <a:prstGeom prst="roundRect">
            <a:avLst>
              <a:gd name="adj" fmla="val 72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86300" y="1809452"/>
            <a:ext cx="0" cy="704552"/>
          </a:xfrm>
          <a:prstGeom prst="line">
            <a:avLst/>
          </a:prstGeom>
          <a:noFill/>
          <a:ln w="3810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32300" y="2037904"/>
            <a:ext cx="3815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publish - 出版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7250" y="2552105"/>
            <a:ext cx="4032349" cy="704552"/>
          </a:xfrm>
          <a:prstGeom prst="roundRect">
            <a:avLst>
              <a:gd name="adj" fmla="val 72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86300" y="2552105"/>
            <a:ext cx="0" cy="704552"/>
          </a:xfrm>
          <a:prstGeom prst="line">
            <a:avLst/>
          </a:prstGeom>
          <a:noFill/>
          <a:ln w="38100">
            <a:solidFill>
              <a:srgbClr val="FF6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2300" y="2780556"/>
            <a:ext cx="3815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create - 创造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7250" y="3294757"/>
            <a:ext cx="4032349" cy="704552"/>
          </a:xfrm>
          <a:prstGeom prst="roundRect">
            <a:avLst>
              <a:gd name="adj" fmla="val 72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86300" y="3294757"/>
            <a:ext cx="0" cy="704552"/>
          </a:xfrm>
          <a:prstGeom prst="line">
            <a:avLst/>
          </a:prstGeom>
          <a:noFill/>
          <a:ln w="38100">
            <a:solidFill>
              <a:srgbClr val="FF6B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32300" y="3523208"/>
            <a:ext cx="3815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poster - 海报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67250" y="4037409"/>
            <a:ext cx="4032349" cy="704552"/>
          </a:xfrm>
          <a:prstGeom prst="roundRect">
            <a:avLst>
              <a:gd name="adj" fmla="val 72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86300" y="4037409"/>
            <a:ext cx="0" cy="704552"/>
          </a:xfrm>
          <a:prstGeom prst="line">
            <a:avLst/>
          </a:prstGeom>
          <a:noFill/>
          <a:ln w="38100">
            <a:solidFill>
              <a:srgbClr val="FF6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32300" y="4265861"/>
            <a:ext cx="3815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improve - 改善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速记四大法宝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28700"/>
            <a:ext cx="8128099" cy="812750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028700"/>
            <a:ext cx="0" cy="812750"/>
          </a:xfrm>
          <a:prstGeom prst="line">
            <a:avLst/>
          </a:prstGeom>
          <a:noFill/>
          <a:ln w="47625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6075" y="1143000"/>
            <a:ext cx="78534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词根记忆法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6075" y="1498550"/>
            <a:ext cx="785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把单词拆成小零件，像搭积木一样记住！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1930301"/>
            <a:ext cx="8128099" cy="812750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1930301"/>
            <a:ext cx="0" cy="812750"/>
          </a:xfrm>
          <a:prstGeom prst="line">
            <a:avLst/>
          </a:prstGeom>
          <a:noFill/>
          <a:ln w="47625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075" y="2044601"/>
            <a:ext cx="78534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联想记忆法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6075" y="2400151"/>
            <a:ext cx="785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找朋友！把新单词和认识的词联系起来。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50" y="2831902"/>
            <a:ext cx="8128099" cy="812750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2831902"/>
            <a:ext cx="0" cy="812750"/>
          </a:xfrm>
          <a:prstGeom prst="line">
            <a:avLst/>
          </a:prstGeom>
          <a:noFill/>
          <a:ln w="47625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075" y="2946202"/>
            <a:ext cx="78534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谐音口诀法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6075" y="3301752"/>
            <a:ext cx="785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用有趣的中文读音记住英文意思！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950" y="3733502"/>
            <a:ext cx="8128099" cy="812750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1763" y="3733502"/>
            <a:ext cx="0" cy="812750"/>
          </a:xfrm>
          <a:prstGeom prst="line">
            <a:avLst/>
          </a:prstGeom>
          <a:noFill/>
          <a:ln w="47625">
            <a:solidFill>
              <a:srgbClr val="447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6075" y="3847802"/>
            <a:ext cx="78534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场景记忆法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6075" y="4203353"/>
            <a:ext cx="785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把单词放在生活场景里，想忘都难！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752" cy="51435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709738"/>
            <a:ext cx="284982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5961" y="2776538"/>
            <a:ext cx="28498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82752" y="317450"/>
            <a:ext cx="2666405" cy="1165027"/>
          </a:xfrm>
          <a:prstGeom prst="roundRect">
            <a:avLst>
              <a:gd name="adj" fmla="val 8721"/>
            </a:avLst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202" y="723751"/>
            <a:ext cx="207213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可用的、可获得的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82752" y="167297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06564" y="1672977"/>
            <a:ext cx="0" cy="571500"/>
          </a:xfrm>
          <a:prstGeom prst="line">
            <a:avLst/>
          </a:prstGeom>
          <a:noFill/>
          <a:ln w="47625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8977" y="182537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词根：a-(加强) + vail(价值) + -able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82752" y="237142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706564" y="2371427"/>
            <a:ext cx="0" cy="571500"/>
          </a:xfrm>
          <a:prstGeom prst="line">
            <a:avLst/>
          </a:prstGeom>
          <a:noFill/>
          <a:ln w="47625">
            <a:solidFill>
              <a:srgbClr val="447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8977" y="252382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谐音："啊，味儿"able → 有价值的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2752" y="3069878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06564" y="3069878"/>
            <a:ext cx="0" cy="571500"/>
          </a:xfrm>
          <a:prstGeom prst="line">
            <a:avLst/>
          </a:prstGeom>
          <a:noFill/>
          <a:ln w="47625">
            <a:solidFill>
              <a:srgbClr val="447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8977" y="3222278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例子：available time 空闲时间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752" cy="5143500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709738"/>
            <a:ext cx="284982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5961" y="2776538"/>
            <a:ext cx="28498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82752" y="317450"/>
            <a:ext cx="1904702" cy="1165027"/>
          </a:xfrm>
          <a:prstGeom prst="roundRect">
            <a:avLst>
              <a:gd name="adj" fmla="val 8721"/>
            </a:avLst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202" y="723751"/>
            <a:ext cx="12951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保留、预订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82752" y="167297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06564" y="1672977"/>
            <a:ext cx="0" cy="571500"/>
          </a:xfrm>
          <a:prstGeom prst="line">
            <a:avLst/>
          </a:prstGeom>
          <a:noFill/>
          <a:ln w="47625">
            <a:solidFill>
              <a:srgbClr val="70AD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8977" y="182537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词根：re-(向后) + serv(保持)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82752" y="237142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706564" y="2371427"/>
            <a:ext cx="0" cy="571500"/>
          </a:xfrm>
          <a:prstGeom prst="line">
            <a:avLst/>
          </a:prstGeom>
          <a:noFill/>
          <a:ln w="47625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8977" y="252382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拆分：re(往回) + serve(服务)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2752" y="3069878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06564" y="3069878"/>
            <a:ext cx="0" cy="571500"/>
          </a:xfrm>
          <a:prstGeom prst="line">
            <a:avLst/>
          </a:prstGeom>
          <a:noFill/>
          <a:ln w="47625">
            <a:solidFill>
              <a:srgbClr val="70AD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8977" y="3222278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例子：reserve a seat 预订座位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752" cy="5143500"/>
          </a:xfrm>
          <a:prstGeom prst="rect">
            <a:avLst/>
          </a:prstGeom>
          <a:solidFill>
            <a:srgbClr val="FF6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709738"/>
            <a:ext cx="284982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5961" y="2776538"/>
            <a:ext cx="28498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range of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82752" y="317450"/>
            <a:ext cx="2920454" cy="1165027"/>
          </a:xfrm>
          <a:prstGeom prst="roundRect">
            <a:avLst>
              <a:gd name="adj" fmla="val 8721"/>
            </a:avLst>
          </a:prstGeom>
          <a:solidFill>
            <a:srgbClr val="FF6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202" y="723751"/>
            <a:ext cx="23312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一系列、各种各样的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82752" y="167297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06564" y="1672977"/>
            <a:ext cx="0" cy="571500"/>
          </a:xfrm>
          <a:prstGeom prst="line">
            <a:avLst/>
          </a:prstGeom>
          <a:noFill/>
          <a:ln w="47625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8977" y="182537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拆分：a + range(范围) + of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82752" y="237142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706564" y="2371427"/>
            <a:ext cx="0" cy="571500"/>
          </a:xfrm>
          <a:prstGeom prst="line">
            <a:avLst/>
          </a:prstGeom>
          <a:noFill/>
          <a:ln w="47625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8977" y="252382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联想：range像货架排列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2752" y="3069878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06564" y="3069878"/>
            <a:ext cx="0" cy="571500"/>
          </a:xfrm>
          <a:prstGeom prst="line">
            <a:avLst/>
          </a:prstGeom>
          <a:noFill/>
          <a:ln w="47625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8977" y="3222278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例子：a range of options 多种选择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752" cy="514350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709738"/>
            <a:ext cx="284982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5961" y="2776538"/>
            <a:ext cx="28498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advance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82752" y="317450"/>
            <a:ext cx="1904702" cy="1165027"/>
          </a:xfrm>
          <a:prstGeom prst="roundRect">
            <a:avLst>
              <a:gd name="adj" fmla="val 8721"/>
            </a:avLst>
          </a:prstGeom>
          <a:solidFill>
            <a:srgbClr val="5B2C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202" y="723751"/>
            <a:ext cx="12951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提前、预先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82752" y="167297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06564" y="1672977"/>
            <a:ext cx="0" cy="571500"/>
          </a:xfrm>
          <a:prstGeom prst="line">
            <a:avLst/>
          </a:prstGeom>
          <a:noFill/>
          <a:ln w="47625">
            <a:solidFill>
              <a:srgbClr val="5B2C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8977" y="182537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词根：in + ad-(向) + vance(前)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82752" y="237142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706564" y="2371427"/>
            <a:ext cx="0" cy="571500"/>
          </a:xfrm>
          <a:prstGeom prst="line">
            <a:avLst/>
          </a:prstGeom>
          <a:noFill/>
          <a:ln w="47625">
            <a:solidFill>
              <a:srgbClr val="5B2C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8977" y="252382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谐音："硬得万死" → 提前准备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2752" y="3069878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06564" y="3069878"/>
            <a:ext cx="0" cy="571500"/>
          </a:xfrm>
          <a:prstGeom prst="line">
            <a:avLst/>
          </a:prstGeom>
          <a:noFill/>
          <a:ln w="47625">
            <a:solidFill>
              <a:srgbClr val="5B2C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8977" y="3222278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例子：pay in advance 提前付款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752" cy="5143500"/>
          </a:xfrm>
          <a:prstGeom prst="rect">
            <a:avLst/>
          </a:prstGeom>
          <a:solidFill>
            <a:srgbClr val="D35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709738"/>
            <a:ext cx="284982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5961" y="2776538"/>
            <a:ext cx="28498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82752" y="317450"/>
            <a:ext cx="1904702" cy="1165027"/>
          </a:xfrm>
          <a:prstGeom prst="roundRect">
            <a:avLst>
              <a:gd name="adj" fmla="val 8721"/>
            </a:avLst>
          </a:prstGeom>
          <a:solidFill>
            <a:srgbClr val="D35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202" y="723751"/>
            <a:ext cx="12951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生产、制造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82752" y="167297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06564" y="1672977"/>
            <a:ext cx="0" cy="571500"/>
          </a:xfrm>
          <a:prstGeom prst="line">
            <a:avLst/>
          </a:prstGeom>
          <a:noFill/>
          <a:ln w="47625">
            <a:solidFill>
              <a:srgbClr val="D35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8977" y="182537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词根：pro-(向前) + duce(引导)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82752" y="237142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706564" y="2371427"/>
            <a:ext cx="0" cy="571500"/>
          </a:xfrm>
          <a:prstGeom prst="line">
            <a:avLst/>
          </a:prstGeom>
          <a:noFill/>
          <a:ln w="47625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8977" y="252382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联想：product(产品) ← produce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2752" y="3069878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06564" y="3069878"/>
            <a:ext cx="0" cy="571500"/>
          </a:xfrm>
          <a:prstGeom prst="line">
            <a:avLst/>
          </a:prstGeom>
          <a:noFill/>
          <a:ln w="47625">
            <a:solidFill>
              <a:srgbClr val="D35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8977" y="3222278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例子：produce goods 生产商品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75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709738"/>
            <a:ext cx="284982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5961" y="2776538"/>
            <a:ext cx="28498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82752" y="317450"/>
            <a:ext cx="2412504" cy="1165027"/>
          </a:xfrm>
          <a:prstGeom prst="roundRect">
            <a:avLst>
              <a:gd name="adj" fmla="val 8721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202" y="723751"/>
            <a:ext cx="181315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申请、应用程序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82752" y="167297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06564" y="1672977"/>
            <a:ext cx="0" cy="571500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8977" y="182537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拆分：apply(申请) + cation(名词)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82752" y="237142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706564" y="2371427"/>
            <a:ext cx="0" cy="571500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8977" y="252382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记忆：app就是application的缩写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2752" y="3069878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06564" y="3069878"/>
            <a:ext cx="0" cy="571500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8977" y="3222278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例子：job application 求职申请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752" cy="51435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709738"/>
            <a:ext cx="284982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5961" y="2776538"/>
            <a:ext cx="28498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82752" y="317450"/>
            <a:ext cx="1904702" cy="1165027"/>
          </a:xfrm>
          <a:prstGeom prst="roundRect">
            <a:avLst>
              <a:gd name="adj" fmla="val 872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202" y="723751"/>
            <a:ext cx="12951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出版、发布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82752" y="167297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06564" y="1672977"/>
            <a:ext cx="0" cy="57150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8977" y="182537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词根：publ-(人民) + -ish(使...)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82752" y="237142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706564" y="2371427"/>
            <a:ext cx="0" cy="57150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8977" y="252382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拆分：public(公众) + -ish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2752" y="3069878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06564" y="3069878"/>
            <a:ext cx="0" cy="57150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8977" y="3222278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例子：publish a book 出版一本书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752" cy="5143500"/>
          </a:xfrm>
          <a:prstGeom prst="rect">
            <a:avLst/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709738"/>
            <a:ext cx="284982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5961" y="2776538"/>
            <a:ext cx="28498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82752" y="317450"/>
            <a:ext cx="1904702" cy="1165027"/>
          </a:xfrm>
          <a:prstGeom prst="roundRect">
            <a:avLst>
              <a:gd name="adj" fmla="val 8721"/>
            </a:avLst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202" y="723751"/>
            <a:ext cx="12951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创造、创作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82752" y="167297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06564" y="1672977"/>
            <a:ext cx="0" cy="571500"/>
          </a:xfrm>
          <a:prstGeom prst="line">
            <a:avLst/>
          </a:prstGeom>
          <a:noFill/>
          <a:ln w="47625">
            <a:solidFill>
              <a:srgbClr val="8E44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8977" y="182537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词根：cre-(创造) + -ate(动词)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82752" y="237142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706564" y="2371427"/>
            <a:ext cx="0" cy="571500"/>
          </a:xfrm>
          <a:prstGeom prst="line">
            <a:avLst/>
          </a:prstGeom>
          <a:noFill/>
          <a:ln w="47625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8977" y="252382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联想：creator(造物主) ← create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2752" y="3069878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06564" y="3069878"/>
            <a:ext cx="0" cy="571500"/>
          </a:xfrm>
          <a:prstGeom prst="line">
            <a:avLst/>
          </a:prstGeom>
          <a:noFill/>
          <a:ln w="47625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8977" y="3222278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例子：create art 创作艺术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752" cy="51435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709738"/>
            <a:ext cx="284982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5961" y="2776538"/>
            <a:ext cx="28498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82752" y="317450"/>
            <a:ext cx="1142851" cy="1165027"/>
          </a:xfrm>
          <a:prstGeom prst="roundRect">
            <a:avLst>
              <a:gd name="adj" fmla="val 889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202" y="723751"/>
            <a:ext cx="5181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82752" y="167297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06564" y="1672977"/>
            <a:ext cx="0" cy="57150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8977" y="182537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拆分：post(张贴) + -er(物)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82752" y="237142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706564" y="2371427"/>
            <a:ext cx="0" cy="57150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8977" y="252382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联想：post(柱子)上贴的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2752" y="3069878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06564" y="3069878"/>
            <a:ext cx="0" cy="57150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8977" y="3222278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例子：movie poster 电影海报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752" cy="514350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709738"/>
            <a:ext cx="284982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5961" y="2776538"/>
            <a:ext cx="28498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82752" y="317450"/>
            <a:ext cx="1904702" cy="1165027"/>
          </a:xfrm>
          <a:prstGeom prst="roundRect">
            <a:avLst>
              <a:gd name="adj" fmla="val 872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202" y="723751"/>
            <a:ext cx="12951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改善、提高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82752" y="167297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06564" y="1672977"/>
            <a:ext cx="0" cy="571500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8977" y="182537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词根：im-(进入) + prove(测试)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82752" y="2371427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706564" y="2371427"/>
            <a:ext cx="0" cy="571500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8977" y="2523827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联想：proof(证明) ← prove ← improve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2752" y="3069878"/>
            <a:ext cx="5080248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06564" y="3069878"/>
            <a:ext cx="0" cy="571500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8977" y="3222278"/>
            <a:ext cx="4666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例子：improve skills 提高技能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0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913" y="1027361"/>
            <a:ext cx="65093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0"/>
              </a:spcBef>
              <a:spcAft>
                <a:spcPts val="5000"/>
              </a:spcAft>
              <a:buNone/>
            </a:pPr>
            <a:r>
              <a:rPr lang="en-US" sz="5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2743200" y="2576661"/>
            <a:ext cx="373075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恭喜你！完成学习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138339" y="3291036"/>
            <a:ext cx="29245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10个魔法单词已收入你的大脑！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81338" y="3703737"/>
            <a:ext cx="2981325" cy="1047155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105150" y="3703737"/>
            <a:ext cx="0" cy="1047155"/>
          </a:xfrm>
          <a:prstGeom prst="line">
            <a:avLst/>
          </a:prstGeom>
          <a:noFill/>
          <a:ln w="47625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6413" y="3830538"/>
            <a:ext cx="2344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每天复习5分钟，记得更牢固！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46413" y="4103489"/>
            <a:ext cx="2344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用这些单词造句，效果更好！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46413" y="4376440"/>
            <a:ext cx="2344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教给同学，记得最快！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英语单词速记魔法课</dc:title>
  <dc:subject>PptxGenJS Presentation</dc:subject>
  <dc:creator>张浩</dc:creator>
  <cp:lastModifiedBy>张浩</cp:lastModifiedBy>
  <cp:revision>1</cp:revision>
  <dcterms:created xsi:type="dcterms:W3CDTF">2026-04-18T16:21:20Z</dcterms:created>
  <dcterms:modified xsi:type="dcterms:W3CDTF">2026-04-18T16:21:20Z</dcterms:modified>
</cp:coreProperties>
</file>
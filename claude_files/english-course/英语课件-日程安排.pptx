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image" Target="../media/image-3-2.png"/><Relationship Id="rId9" Type="http://schemas.openxmlformats.org/officeDocument/2006/relationships/image" Target="../media/image-3-9.png"/><Relationship Id="rId10" Type="http://schemas.openxmlformats.org/officeDocument/2006/relationships/image" Target="../media/image-3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hanghao/Documents/my_code/vite-react/claude_files/english-course/workspace/slides/cloud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" y="190500"/>
            <a:ext cx="888950" cy="571500"/>
          </a:xfrm>
          <a:prstGeom prst="rect">
            <a:avLst/>
          </a:prstGeom>
        </p:spPr>
      </p:pic>
      <p:pic>
        <p:nvPicPr>
          <p:cNvPr id="3" name="Image 1" descr="/Users/zhanghao/Documents/my_code/vite-react/claude_files/english-course/workspace/slides/star-rainb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850" y="152400"/>
            <a:ext cx="457200" cy="457200"/>
          </a:xfrm>
          <a:prstGeom prst="rect">
            <a:avLst/>
          </a:prstGeom>
        </p:spPr>
      </p:pic>
      <p:pic>
        <p:nvPicPr>
          <p:cNvPr id="4" name="Image 2" descr="/Users/zhanghao/Documents/my_code/vite-react/claude_files/english-course/workspace/slides/star-rainb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198" y="762000"/>
            <a:ext cx="253901" cy="253901"/>
          </a:xfrm>
          <a:prstGeom prst="rect">
            <a:avLst/>
          </a:prstGeom>
        </p:spPr>
      </p:pic>
      <p:pic>
        <p:nvPicPr>
          <p:cNvPr id="5" name="Image 3" descr="/Users/zhanghao/Documents/my_code/vite-react/claude_files/english-course/workspace/slides/he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01" y="4406950"/>
            <a:ext cx="355550" cy="355550"/>
          </a:xfrm>
          <a:prstGeom prst="rect">
            <a:avLst/>
          </a:prstGeom>
        </p:spPr>
      </p:pic>
      <p:pic>
        <p:nvPicPr>
          <p:cNvPr id="6" name="Image 4" descr="/Users/zhanghao/Documents/my_code/vite-react/claude_files/english-course/workspace/slides/cloud-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149" y="4445050"/>
            <a:ext cx="825401" cy="507950"/>
          </a:xfrm>
          <a:prstGeom prst="rect">
            <a:avLst/>
          </a:prstGeom>
        </p:spPr>
      </p:pic>
      <p:pic>
        <p:nvPicPr>
          <p:cNvPr id="7" name="Image 5" descr="/Users/zhanghao/Documents/my_code/vite-react/claude_files/english-course/workspace/slides/be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0" y="4191149"/>
            <a:ext cx="698450" cy="69845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686520" y="1352550"/>
            <a:ext cx="5770811" cy="1885801"/>
          </a:xfrm>
          <a:prstGeom prst="roundRect">
            <a:avLst>
              <a:gd name="adj" fmla="val 14816"/>
            </a:avLst>
          </a:prstGeom>
          <a:solidFill>
            <a:srgbClr val="FFFFFF">
              <a:alpha val="92000"/>
            </a:srgbClr>
          </a:solidFill>
          <a:ln w="38100">
            <a:solidFill>
              <a:srgbClr val="FFB6C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1"/>
          <p:cNvSpPr/>
          <p:nvPr/>
        </p:nvSpPr>
        <p:spPr>
          <a:xfrm>
            <a:off x="2185784" y="1670000"/>
            <a:ext cx="477228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a good schedule</a:t>
            </a:r>
            <a:endParaRPr lang="en-US" sz="3000" dirty="0"/>
          </a:p>
        </p:txBody>
      </p:sp>
      <p:sp>
        <p:nvSpPr>
          <p:cNvPr id="10" name="Text 2"/>
          <p:cNvSpPr/>
          <p:nvPr/>
        </p:nvSpPr>
        <p:spPr>
          <a:xfrm>
            <a:off x="2185784" y="2149376"/>
            <a:ext cx="477228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3000" b="1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us?</a:t>
            </a:r>
            <a:endParaRPr lang="en-US" sz="3000" dirty="0"/>
          </a:p>
        </p:txBody>
      </p:sp>
      <p:sp>
        <p:nvSpPr>
          <p:cNvPr id="11" name="Text 3"/>
          <p:cNvSpPr/>
          <p:nvPr/>
        </p:nvSpPr>
        <p:spPr>
          <a:xfrm>
            <a:off x="2185784" y="2654201"/>
            <a:ext cx="47722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如何让日程安排帮助我们？</a:t>
            </a: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3394770" y="3352651"/>
            <a:ext cx="2354461" cy="438150"/>
          </a:xfrm>
          <a:prstGeom prst="roundRect">
            <a:avLst>
              <a:gd name="adj" fmla="val 40580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DDA0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5"/>
          <p:cNvSpPr/>
          <p:nvPr/>
        </p:nvSpPr>
        <p:spPr>
          <a:xfrm>
            <a:off x="3693170" y="3447901"/>
            <a:ext cx="17928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7D6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人教版小学英语 · 课件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8226"/>
          </a:xfrm>
          <a:prstGeom prst="rect">
            <a:avLst/>
          </a:prstGeom>
          <a:solidFill>
            <a:srgbClr val="FFB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zhanghao/Documents/my_code/vite-react/claude_files/english-course/workspace/slides/star-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" y="169813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8701" y="88850"/>
            <a:ext cx="346797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课前小测试 Pre-class Quiz</a:t>
            </a:r>
            <a:endParaRPr lang="en-US" sz="2200" dirty="0"/>
          </a:p>
        </p:txBody>
      </p:sp>
      <p:pic>
        <p:nvPicPr>
          <p:cNvPr id="5" name="Image 1" descr="/Users/zhanghao/Documents/my_code/vite-react/claude_files/english-course/workspace/slides/penc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879" y="169813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53901" y="644426"/>
            <a:ext cx="8636198" cy="656927"/>
          </a:xfrm>
          <a:prstGeom prst="roundRect">
            <a:avLst>
              <a:gd name="adj" fmla="val 23199"/>
            </a:avLst>
          </a:prstGeom>
          <a:solidFill>
            <a:srgbClr val="FFFFFF"/>
          </a:solidFill>
          <a:ln w="19050">
            <a:solidFill>
              <a:srgbClr val="FFE4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2" descr="/Users/zhanghao/Documents/my_code/vite-react/claude_files/english-course/workspace/slides/num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901" y="739527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4701" y="726877"/>
            <a:ext cx="29904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 is it?</a:t>
            </a:r>
            <a:pPr algn="l" indent="0" marL="0">
              <a:buNone/>
            </a:pPr>
            <a:r>
              <a:rPr lang="en-US" sz="15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（现在几点了？）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704701" y="1018877"/>
            <a:ext cx="29904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It's 7 o'clock.    B. It's seven clock.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253901" y="1364754"/>
            <a:ext cx="8636198" cy="656927"/>
          </a:xfrm>
          <a:prstGeom prst="roundRect">
            <a:avLst>
              <a:gd name="adj" fmla="val 23199"/>
            </a:avLst>
          </a:prstGeom>
          <a:solidFill>
            <a:srgbClr val="FFFFFF"/>
          </a:solidFill>
          <a:ln w="19050">
            <a:solidFill>
              <a:srgbClr val="FFE4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3" descr="/Users/zhanghao/Documents/my_code/vite-react/claude_files/english-course/workspace/slides/num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901" y="1459855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4701" y="1447205"/>
            <a:ext cx="3161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"该起床了"用英语怎么说？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704701" y="1739205"/>
            <a:ext cx="3161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It's time to get up.    B. It's time for get up.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253901" y="2085082"/>
            <a:ext cx="8636198" cy="637877"/>
          </a:xfrm>
          <a:prstGeom prst="roundRect">
            <a:avLst>
              <a:gd name="adj" fmla="val 23892"/>
            </a:avLst>
          </a:prstGeom>
          <a:solidFill>
            <a:srgbClr val="FFFFFF"/>
          </a:solidFill>
          <a:ln w="19050">
            <a:solidFill>
              <a:srgbClr val="FFE4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4" descr="/Users/zhanghao/Documents/my_code/vite-react/claude_files/english-course/workspace/slides/num-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901" y="2180183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4701" y="2167533"/>
            <a:ext cx="27432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"schedule" mean?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704701" y="2411909"/>
            <a:ext cx="2743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时间    B. 日程安排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253901" y="2786360"/>
            <a:ext cx="8636198" cy="656927"/>
          </a:xfrm>
          <a:prstGeom prst="roundRect">
            <a:avLst>
              <a:gd name="adj" fmla="val 23199"/>
            </a:avLst>
          </a:prstGeom>
          <a:solidFill>
            <a:srgbClr val="FFFFFF"/>
          </a:solidFill>
          <a:ln w="19050">
            <a:solidFill>
              <a:srgbClr val="FFE4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5" descr="/Users/zhanghao/Documents/my_code/vite-react/claude_files/english-course/workspace/slides/num-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901" y="2881461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04701" y="2868811"/>
            <a:ext cx="29589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"It's 8:30"的正确读法是？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704701" y="3160812"/>
            <a:ext cx="29589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It's eight thirty.    B. It's eight past thirty.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7557790" y="4832449"/>
            <a:ext cx="1332309" cy="247650"/>
          </a:xfrm>
          <a:prstGeom prst="roundRect">
            <a:avLst>
              <a:gd name="adj" fmla="val 82051"/>
            </a:avLst>
          </a:prstGeom>
          <a:solidFill>
            <a:srgbClr val="E8D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5"/>
          <p:cNvSpPr/>
          <p:nvPr/>
        </p:nvSpPr>
        <p:spPr>
          <a:xfrm>
            <a:off x="7684740" y="4870549"/>
            <a:ext cx="10999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5 minutes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8226"/>
          </a:xfrm>
          <a:prstGeom prst="rect">
            <a:avLst/>
          </a:prstGeom>
          <a:solidFill>
            <a:srgbClr val="B5D8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zhanghao/Documents/my_code/vite-react/claude_files/english-course/workspace/slide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" y="169813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8701" y="88850"/>
            <a:ext cx="30928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测试答案 Quiz Answers</a:t>
            </a:r>
            <a:endParaRPr lang="en-US" sz="2200" dirty="0"/>
          </a:p>
        </p:txBody>
      </p:sp>
      <p:pic>
        <p:nvPicPr>
          <p:cNvPr id="5" name="Image 1" descr="/Users/zhanghao/Documents/my_code/vite-react/claude_files/english-course/workspace/slides/num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01" y="760214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8701" y="669727"/>
            <a:ext cx="8331398" cy="409575"/>
          </a:xfrm>
          <a:prstGeom prst="roundRect">
            <a:avLst>
              <a:gd name="adj" fmla="val 37209"/>
            </a:avLst>
          </a:prstGeom>
          <a:solidFill>
            <a:srgbClr val="FFFFFF"/>
          </a:solidFill>
          <a:ln w="19050">
            <a:solidFill>
              <a:srgbClr val="D4ED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30151" y="764977"/>
            <a:ext cx="145307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It's 7 o'clock.</a:t>
            </a:r>
            <a:endParaRPr lang="en-US" sz="1500" dirty="0"/>
          </a:p>
        </p:txBody>
      </p:sp>
      <p:pic>
        <p:nvPicPr>
          <p:cNvPr id="8" name="Image 2" descr="/Users/zhanghao/Documents/my_code/vite-react/claude_files/english-course/workspace/slide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0934" y="785664"/>
            <a:ext cx="177701" cy="177701"/>
          </a:xfrm>
          <a:prstGeom prst="rect">
            <a:avLst/>
          </a:prstGeom>
        </p:spPr>
      </p:pic>
      <p:pic>
        <p:nvPicPr>
          <p:cNvPr id="9" name="Image 3" descr="/Users/zhanghao/Documents/my_code/vite-react/claude_files/english-course/workspace/slides/num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901" y="1233190"/>
            <a:ext cx="22860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58701" y="1142702"/>
            <a:ext cx="8331398" cy="409575"/>
          </a:xfrm>
          <a:prstGeom prst="roundRect">
            <a:avLst>
              <a:gd name="adj" fmla="val 37209"/>
            </a:avLst>
          </a:prstGeom>
          <a:solidFill>
            <a:srgbClr val="FFFFFF"/>
          </a:solidFill>
          <a:ln w="19050">
            <a:solidFill>
              <a:srgbClr val="D4ED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730151" y="1237952"/>
            <a:ext cx="190302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It's time to get up.</a:t>
            </a:r>
            <a:endParaRPr lang="en-US" sz="1500" dirty="0"/>
          </a:p>
        </p:txBody>
      </p:sp>
      <p:pic>
        <p:nvPicPr>
          <p:cNvPr id="12" name="Image 4" descr="/Users/zhanghao/Documents/my_code/vite-react/claude_files/english-course/workspace/slide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2060" y="1258639"/>
            <a:ext cx="177701" cy="177701"/>
          </a:xfrm>
          <a:prstGeom prst="rect">
            <a:avLst/>
          </a:prstGeom>
        </p:spPr>
      </p:pic>
      <p:pic>
        <p:nvPicPr>
          <p:cNvPr id="13" name="Image 5" descr="/Users/zhanghao/Documents/my_code/vite-react/claude_files/english-course/workspace/slides/num-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901" y="1729978"/>
            <a:ext cx="228600" cy="228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58701" y="1615678"/>
            <a:ext cx="833139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9050">
            <a:solidFill>
              <a:srgbClr val="D4ED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7"/>
          <p:cNvSpPr/>
          <p:nvPr/>
        </p:nvSpPr>
        <p:spPr>
          <a:xfrm>
            <a:off x="730151" y="1710928"/>
            <a:ext cx="10255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日程安排</a:t>
            </a:r>
            <a:endParaRPr lang="en-US" sz="1500" dirty="0"/>
          </a:p>
        </p:txBody>
      </p:sp>
      <p:pic>
        <p:nvPicPr>
          <p:cNvPr id="16" name="Image 6" descr="/Users/zhanghao/Documents/my_code/vite-react/claude_files/english-course/workspace/slide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1834" y="1755428"/>
            <a:ext cx="177701" cy="177701"/>
          </a:xfrm>
          <a:prstGeom prst="rect">
            <a:avLst/>
          </a:prstGeom>
        </p:spPr>
      </p:pic>
      <p:pic>
        <p:nvPicPr>
          <p:cNvPr id="17" name="Image 7" descr="/Users/zhanghao/Documents/my_code/vite-react/claude_files/english-course/workspace/slides/num-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3901" y="2226766"/>
            <a:ext cx="228600" cy="228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58701" y="2136279"/>
            <a:ext cx="8331398" cy="409575"/>
          </a:xfrm>
          <a:prstGeom prst="roundRect">
            <a:avLst>
              <a:gd name="adj" fmla="val 37209"/>
            </a:avLst>
          </a:prstGeom>
          <a:solidFill>
            <a:srgbClr val="FFFFFF"/>
          </a:solidFill>
          <a:ln w="19050">
            <a:solidFill>
              <a:srgbClr val="D4ED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9"/>
          <p:cNvSpPr/>
          <p:nvPr/>
        </p:nvSpPr>
        <p:spPr>
          <a:xfrm>
            <a:off x="730151" y="2231529"/>
            <a:ext cx="161884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It's eight thirty.</a:t>
            </a:r>
            <a:endParaRPr lang="en-US" sz="1500" dirty="0"/>
          </a:p>
        </p:txBody>
      </p:sp>
      <p:pic>
        <p:nvPicPr>
          <p:cNvPr id="20" name="Image 8" descr="/Users/zhanghao/Documents/my_code/vite-react/claude_files/english-course/workspace/slides/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93454" y="2252216"/>
            <a:ext cx="177701" cy="177701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253901" y="2609255"/>
            <a:ext cx="8636198" cy="419100"/>
          </a:xfrm>
          <a:prstGeom prst="roundRect">
            <a:avLst>
              <a:gd name="adj" fmla="val 30303"/>
            </a:avLst>
          </a:prstGeom>
          <a:solidFill>
            <a:srgbClr val="FFF0F5"/>
          </a:solidFill>
          <a:ln w="19050">
            <a:solidFill>
              <a:srgbClr val="FFB6C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1"/>
          <p:cNvSpPr/>
          <p:nvPr/>
        </p:nvSpPr>
        <p:spPr>
          <a:xfrm>
            <a:off x="399901" y="2704505"/>
            <a:ext cx="85110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</a:t>
            </a:r>
            <a:pPr algn="l" indent="0" marL="0">
              <a:buNone/>
            </a:pPr>
            <a:r>
              <a:rPr lang="en-US" sz="1300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"It's time to + 动词" 表示"该做某事了"，"o'clock" 用于整点时间表达。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8226"/>
          </a:xfrm>
          <a:prstGeom prst="rect">
            <a:avLst/>
          </a:prstGeom>
          <a:solidFill>
            <a:srgbClr val="DDA0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zhanghao/Documents/my_code/vite-react/claude_files/english-course/workspace/slides/star-rainb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" y="169813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8701" y="88850"/>
            <a:ext cx="394282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学习目标 Learning Objectives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03150" y="669727"/>
            <a:ext cx="2844850" cy="4372273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F0E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371600" y="790277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E0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1" descr="/Users/zhanghao/Documents/my_code/vite-react/claude_files/english-course/workspace/slide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450" y="879128"/>
            <a:ext cx="330101" cy="3301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3622" y="1348978"/>
            <a:ext cx="26039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知识目标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23622" y="1672828"/>
            <a:ext cx="2603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掌握时间表达法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23622" y="1926729"/>
            <a:ext cx="26039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___ o'clock.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23622" y="2152055"/>
            <a:ext cx="26039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___:___.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149501" y="669727"/>
            <a:ext cx="2844998" cy="4372273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F0E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317950" y="790277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2" descr="/Users/zhanghao/Documents/my_code/vite-react/claude_files/english-course/workspace/slides/bub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150" y="929878"/>
            <a:ext cx="35555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69971" y="1348978"/>
            <a:ext cx="26040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能力目标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269971" y="1672828"/>
            <a:ext cx="2604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能用英语描述日常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269971" y="1926729"/>
            <a:ext cx="2604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活动和时间安排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269971" y="2180630"/>
            <a:ext cx="26040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time to / for...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096000" y="669727"/>
            <a:ext cx="2844850" cy="4372273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F0E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7264450" y="790277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FF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/Users/zhanghao/Documents/my_code/vite-react/claude_files/english-course/workspace/slides/star-p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8750" y="904577"/>
            <a:ext cx="279350" cy="2793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16472" y="1348978"/>
            <a:ext cx="26039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0A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情感目标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216472" y="1672828"/>
            <a:ext cx="2603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培养良好的时间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216472" y="1926729"/>
            <a:ext cx="2603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管理意识和习惯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8226"/>
          </a:xfrm>
          <a:prstGeom prst="rect">
            <a:avLst/>
          </a:prstGeom>
          <a:solidFill>
            <a:srgbClr val="FFB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82612"/>
            <a:ext cx="802779" cy="203002"/>
          </a:xfrm>
          <a:prstGeom prst="roundRect">
            <a:avLst>
              <a:gd name="adj" fmla="val 625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402" y="207913"/>
            <a:ext cx="611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880" y="88850"/>
            <a:ext cx="462230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场景一：早上起床 Morning Routine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3150" y="644426"/>
            <a:ext cx="4318099" cy="4422874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9050">
            <a:solidFill>
              <a:srgbClr val="FFE4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9151" y="739676"/>
            <a:ext cx="1456581" cy="203002"/>
          </a:xfrm>
          <a:prstGeom prst="roundRect">
            <a:avLst>
              <a:gd name="adj" fmla="val 37537"/>
            </a:avLst>
          </a:prstGeom>
          <a:solidFill>
            <a:srgbClr val="FFB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5351" y="764977"/>
            <a:ext cx="13302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A - Getting 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80295" y="993428"/>
            <a:ext cx="963811" cy="260152"/>
          </a:xfrm>
          <a:prstGeom prst="roundRect">
            <a:avLst>
              <a:gd name="adj" fmla="val 78108"/>
            </a:avLst>
          </a:prstGeom>
          <a:solidFill>
            <a:srgbClr val="DDA0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981795" y="1018729"/>
            <a:ext cx="7760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7:00 a.m.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9151" y="1304330"/>
            <a:ext cx="4026098" cy="311051"/>
          </a:xfrm>
          <a:prstGeom prst="roundRect">
            <a:avLst>
              <a:gd name="adj" fmla="val 40829"/>
            </a:avLst>
          </a:prstGeom>
          <a:solidFill>
            <a:srgbClr val="F0FA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0652" y="1355080"/>
            <a:ext cx="38995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Mum:</a:t>
            </a:r>
            <a:pPr algn="l" indent="0" marL="0">
              <a:buNone/>
            </a:pPr>
            <a:r>
              <a:rPr lang="en-US" sz="14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It's 7 o'clock. It's time to get up!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77058" y="1653480"/>
            <a:ext cx="2198191" cy="311051"/>
          </a:xfrm>
          <a:prstGeom prst="roundRect">
            <a:avLst>
              <a:gd name="adj" fmla="val 40829"/>
            </a:avLst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78559" y="1704231"/>
            <a:ext cx="20350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Mum:</a:t>
            </a:r>
            <a:pPr algn="l" indent="0" marL="0">
              <a:buNone/>
            </a:pPr>
            <a:r>
              <a:rPr lang="en-US" sz="14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Breakfast is ready!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9151" y="4641949"/>
            <a:ext cx="4026098" cy="330101"/>
          </a:xfrm>
          <a:prstGeom prst="roundRect">
            <a:avLst>
              <a:gd name="adj" fmla="val 23084"/>
            </a:avLst>
          </a:prstGeom>
          <a:solidFill>
            <a:srgbClr val="FFF8E8"/>
          </a:solidFill>
          <a:ln w="9525">
            <a:solidFill>
              <a:srgbClr val="F0A0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4876" y="4702225"/>
            <a:ext cx="39317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pPr algn="l" indent="0" marL="0">
              <a:buNone/>
            </a:pPr>
            <a:r>
              <a:rPr lang="en-US" sz="1200" dirty="0">
                <a:solidFill>
                  <a:srgbClr val="E8A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It's time to + 动词原形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22750" y="644426"/>
            <a:ext cx="4318099" cy="4422874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9050">
            <a:solidFill>
              <a:srgbClr val="FFE4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68751" y="739676"/>
            <a:ext cx="1797993" cy="203002"/>
          </a:xfrm>
          <a:prstGeom prst="roundRect">
            <a:avLst>
              <a:gd name="adj" fmla="val 37537"/>
            </a:avLst>
          </a:prstGeom>
          <a:solidFill>
            <a:srgbClr val="FFB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44951" y="764977"/>
            <a:ext cx="16785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B - Going to School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99895" y="993428"/>
            <a:ext cx="963811" cy="260152"/>
          </a:xfrm>
          <a:prstGeom prst="roundRect">
            <a:avLst>
              <a:gd name="adj" fmla="val 78108"/>
            </a:avLst>
          </a:prstGeom>
          <a:solidFill>
            <a:srgbClr val="DDA0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1395" y="1018729"/>
            <a:ext cx="7760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7:30 a.m.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68751" y="1304330"/>
            <a:ext cx="4026098" cy="311051"/>
          </a:xfrm>
          <a:prstGeom prst="roundRect">
            <a:avLst>
              <a:gd name="adj" fmla="val 40829"/>
            </a:avLst>
          </a:prstGeom>
          <a:solidFill>
            <a:srgbClr val="F0FA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70252" y="1355080"/>
            <a:ext cx="38995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Girl:</a:t>
            </a:r>
            <a:pPr algn="l" indent="0" marL="0">
              <a:buNone/>
            </a:pPr>
            <a:r>
              <a:rPr lang="en-US" sz="14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It's time to go to school. Bye, Mum!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39632" y="1653480"/>
            <a:ext cx="2455218" cy="311051"/>
          </a:xfrm>
          <a:prstGeom prst="roundRect">
            <a:avLst>
              <a:gd name="adj" fmla="val 40829"/>
            </a:avLst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41132" y="1704231"/>
            <a:ext cx="22972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Mum:</a:t>
            </a:r>
            <a:pPr algn="l" indent="0" marL="0">
              <a:buNone/>
            </a:pPr>
            <a:r>
              <a:rPr lang="en-US" sz="14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Bye. Have a nice day!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68751" y="4641949"/>
            <a:ext cx="4026098" cy="330101"/>
          </a:xfrm>
          <a:prstGeom prst="roundRect">
            <a:avLst>
              <a:gd name="adj" fmla="val 23084"/>
            </a:avLst>
          </a:prstGeom>
          <a:solidFill>
            <a:srgbClr val="FFF8E8"/>
          </a:solidFill>
          <a:ln w="9525">
            <a:solidFill>
              <a:srgbClr val="F0A0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54476" y="4702225"/>
            <a:ext cx="39317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pPr algn="l" indent="0" marL="0">
              <a:buNone/>
            </a:pPr>
            <a:r>
              <a:rPr lang="en-US" sz="1200" dirty="0">
                <a:solidFill>
                  <a:srgbClr val="E8A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Have a nice day! 祝你有美好的一天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8226"/>
          </a:xfrm>
          <a:prstGeom prst="rect">
            <a:avLst/>
          </a:prstGeom>
          <a:solidFill>
            <a:srgbClr val="FFB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82612"/>
            <a:ext cx="802779" cy="203002"/>
          </a:xfrm>
          <a:prstGeom prst="roundRect">
            <a:avLst>
              <a:gd name="adj" fmla="val 625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402" y="207913"/>
            <a:ext cx="611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880" y="88850"/>
            <a:ext cx="394252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场景二：英语课 English Class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3150" y="644426"/>
            <a:ext cx="6350198" cy="4029373"/>
          </a:xfrm>
          <a:prstGeom prst="roundRect">
            <a:avLst>
              <a:gd name="adj" fmla="val 4413"/>
            </a:avLst>
          </a:prstGeom>
          <a:solidFill>
            <a:srgbClr val="FFFFFF"/>
          </a:solidFill>
          <a:ln w="19050">
            <a:solidFill>
              <a:srgbClr val="FFE4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9151" y="777776"/>
            <a:ext cx="1658094" cy="203002"/>
          </a:xfrm>
          <a:prstGeom prst="roundRect">
            <a:avLst>
              <a:gd name="adj" fmla="val 37537"/>
            </a:avLst>
          </a:prstGeom>
          <a:solidFill>
            <a:srgbClr val="FFB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5351" y="803077"/>
            <a:ext cx="15358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C - English Class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49661" y="739676"/>
            <a:ext cx="963811" cy="260152"/>
          </a:xfrm>
          <a:prstGeom prst="roundRect">
            <a:avLst>
              <a:gd name="adj" fmla="val 78108"/>
            </a:avLst>
          </a:prstGeom>
          <a:solidFill>
            <a:srgbClr val="DDA0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51162" y="764977"/>
            <a:ext cx="7760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8:30 a.m.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9151" y="1037927"/>
            <a:ext cx="6058198" cy="311051"/>
          </a:xfrm>
          <a:prstGeom prst="roundRect">
            <a:avLst>
              <a:gd name="adj" fmla="val 40829"/>
            </a:avLst>
          </a:prstGeom>
          <a:solidFill>
            <a:srgbClr val="F0FA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0652" y="1088678"/>
            <a:ext cx="5972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</a:t>
            </a:r>
            <a:pPr algn="l" indent="0" marL="0">
              <a:buNone/>
            </a:pPr>
            <a:r>
              <a:rPr lang="en-US" sz="14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It's 8:30. It's time for English class.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9151" y="1387078"/>
            <a:ext cx="6058198" cy="311051"/>
          </a:xfrm>
          <a:prstGeom prst="roundRect">
            <a:avLst>
              <a:gd name="adj" fmla="val 40829"/>
            </a:avLst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0652" y="1437829"/>
            <a:ext cx="5972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Students:</a:t>
            </a:r>
            <a:pPr algn="l" indent="0" marL="0">
              <a:buNone/>
            </a:pPr>
            <a:r>
              <a:rPr lang="en-US" sz="14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We're ready!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3150" y="4737199"/>
            <a:ext cx="6350198" cy="330101"/>
          </a:xfrm>
          <a:prstGeom prst="roundRect">
            <a:avLst>
              <a:gd name="adj" fmla="val 30779"/>
            </a:avLst>
          </a:prstGeom>
          <a:solidFill>
            <a:srgbClr val="FFF0F5"/>
          </a:solidFill>
          <a:ln w="9525">
            <a:solidFill>
              <a:srgbClr val="FFB6C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14176" y="4797475"/>
            <a:ext cx="62507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</a:t>
            </a:r>
            <a:pPr algn="l" indent="0" marL="0">
              <a:buNone/>
            </a:pPr>
            <a:r>
              <a:rPr lang="en-US" sz="1200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"It's time for + 名词" vs "It's time to + 动词"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54850" y="644426"/>
            <a:ext cx="23317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重点词汇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54850" y="968127"/>
            <a:ext cx="2286000" cy="368201"/>
          </a:xfrm>
          <a:prstGeom prst="roundRect">
            <a:avLst>
              <a:gd name="adj" fmla="val 34492"/>
            </a:avLst>
          </a:prstGeom>
          <a:solidFill>
            <a:srgbClr val="FFFFFF"/>
          </a:solidFill>
          <a:ln w="19050">
            <a:solidFill>
              <a:srgbClr val="F0E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775400" y="1037927"/>
            <a:ext cx="208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up</a:t>
            </a:r>
            <a:pPr algn="l" indent="0" marL="0">
              <a:buNone/>
            </a:pPr>
            <a:r>
              <a:rPr lang="en-US" sz="13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起床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54850" y="1387078"/>
            <a:ext cx="2286000" cy="368201"/>
          </a:xfrm>
          <a:prstGeom prst="roundRect">
            <a:avLst>
              <a:gd name="adj" fmla="val 34492"/>
            </a:avLst>
          </a:prstGeom>
          <a:solidFill>
            <a:srgbClr val="FFFFFF"/>
          </a:solidFill>
          <a:ln w="19050">
            <a:solidFill>
              <a:srgbClr val="F0E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75400" y="1456879"/>
            <a:ext cx="208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breakfast</a:t>
            </a:r>
            <a:pPr algn="l" indent="0" marL="0">
              <a:buNone/>
            </a:pPr>
            <a:r>
              <a:rPr lang="en-US" sz="1300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54850" y="1806029"/>
            <a:ext cx="2286000" cy="368201"/>
          </a:xfrm>
          <a:prstGeom prst="roundRect">
            <a:avLst>
              <a:gd name="adj" fmla="val 34492"/>
            </a:avLst>
          </a:prstGeom>
          <a:solidFill>
            <a:srgbClr val="FFFFFF"/>
          </a:solidFill>
          <a:ln w="19050">
            <a:solidFill>
              <a:srgbClr val="F0E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775400" y="1875830"/>
            <a:ext cx="208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A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school</a:t>
            </a:r>
            <a:pPr algn="l" indent="0" marL="0">
              <a:buNone/>
            </a:pPr>
            <a:r>
              <a:rPr lang="en-US" sz="1300" dirty="0">
                <a:solidFill>
                  <a:srgbClr val="F0A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去上学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54850" y="2224980"/>
            <a:ext cx="2286000" cy="368201"/>
          </a:xfrm>
          <a:prstGeom prst="roundRect">
            <a:avLst>
              <a:gd name="adj" fmla="val 34492"/>
            </a:avLst>
          </a:prstGeom>
          <a:solidFill>
            <a:srgbClr val="FFFFFF"/>
          </a:solidFill>
          <a:ln w="19050">
            <a:solidFill>
              <a:srgbClr val="F0E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775400" y="2294781"/>
            <a:ext cx="208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class</a:t>
            </a:r>
            <a:pPr algn="l" indent="0" marL="0">
              <a:buNone/>
            </a:pPr>
            <a:r>
              <a:rPr lang="en-US" sz="13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英语课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54850" y="2643932"/>
            <a:ext cx="2286000" cy="368201"/>
          </a:xfrm>
          <a:prstGeom prst="roundRect">
            <a:avLst>
              <a:gd name="adj" fmla="val 34492"/>
            </a:avLst>
          </a:prstGeom>
          <a:solidFill>
            <a:srgbClr val="FFFFFF"/>
          </a:solidFill>
          <a:ln w="19050">
            <a:solidFill>
              <a:srgbClr val="F0E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75400" y="2713732"/>
            <a:ext cx="208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pPr algn="l" indent="0" marL="0">
              <a:buNone/>
            </a:pPr>
            <a:r>
              <a:rPr lang="en-US" sz="1300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准备好的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8226"/>
          </a:xfrm>
          <a:prstGeom prst="rect">
            <a:avLst/>
          </a:prstGeom>
          <a:solidFill>
            <a:srgbClr val="DDA0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zhanghao/Documents/my_code/vite-react/claude_files/english-course/workspace/slides/star-rainb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" y="169813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8701" y="88850"/>
            <a:ext cx="324649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重点句型 Key Sentences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03150" y="644426"/>
            <a:ext cx="4318099" cy="749052"/>
          </a:xfrm>
          <a:prstGeom prst="roundRect">
            <a:avLst>
              <a:gd name="adj" fmla="val 1695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222200" y="644426"/>
            <a:ext cx="0" cy="74905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2751" y="701576"/>
            <a:ext cx="670173" cy="168176"/>
          </a:xfrm>
          <a:prstGeom prst="roundRect">
            <a:avLst>
              <a:gd name="adj" fmla="val 37758"/>
            </a:avLst>
          </a:prstGeom>
          <a:solidFill>
            <a:srgbClr val="E0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06152" y="714226"/>
            <a:ext cx="554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42751" y="882402"/>
            <a:ext cx="4158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+ 时间.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42751" y="1142702"/>
            <a:ext cx="4158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1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用于表达现在几点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03150" y="1444228"/>
            <a:ext cx="4318099" cy="323850"/>
          </a:xfrm>
          <a:prstGeom prst="roundRect">
            <a:avLst>
              <a:gd name="adj" fmla="val 31373"/>
            </a:avLst>
          </a:prstGeom>
          <a:solidFill>
            <a:srgbClr val="FFFFFF"/>
          </a:solidFill>
          <a:ln w="19050">
            <a:solidFill>
              <a:srgbClr val="F0E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23701" y="1501378"/>
            <a:ext cx="41585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7 o'clock. </a:t>
            </a:r>
            <a:pPr algn="l" indent="0" marL="0">
              <a:buNone/>
            </a:pPr>
            <a:r>
              <a:rPr lang="en-US" sz="11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7点了。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03150" y="1818829"/>
            <a:ext cx="4318099" cy="323850"/>
          </a:xfrm>
          <a:prstGeom prst="roundRect">
            <a:avLst>
              <a:gd name="adj" fmla="val 31373"/>
            </a:avLst>
          </a:prstGeom>
          <a:solidFill>
            <a:srgbClr val="FFFFFF"/>
          </a:solidFill>
          <a:ln w="19050">
            <a:solidFill>
              <a:srgbClr val="F0E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23701" y="1875979"/>
            <a:ext cx="41585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8:30. </a:t>
            </a:r>
            <a:pPr algn="l" indent="0" marL="0">
              <a:buNone/>
            </a:pPr>
            <a:r>
              <a:rPr lang="en-US" sz="11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8点30分。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03150" y="2193429"/>
            <a:ext cx="4318099" cy="323850"/>
          </a:xfrm>
          <a:prstGeom prst="roundRect">
            <a:avLst>
              <a:gd name="adj" fmla="val 31373"/>
            </a:avLst>
          </a:prstGeom>
          <a:solidFill>
            <a:srgbClr val="FFFFFF"/>
          </a:solidFill>
          <a:ln w="19050">
            <a:solidFill>
              <a:srgbClr val="F0E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23701" y="2250579"/>
            <a:ext cx="41585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 is it? </a:t>
            </a:r>
            <a:pPr algn="l" indent="0" marL="0">
              <a:buNone/>
            </a:pPr>
            <a:r>
              <a:rPr lang="en-US" sz="11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几点了？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622750" y="644426"/>
            <a:ext cx="4318099" cy="749052"/>
          </a:xfrm>
          <a:prstGeom prst="roundRect">
            <a:avLst>
              <a:gd name="adj" fmla="val 1695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41800" y="644426"/>
            <a:ext cx="0" cy="749052"/>
          </a:xfrm>
          <a:prstGeom prst="line">
            <a:avLst/>
          </a:prstGeom>
          <a:noFill/>
          <a:ln w="38100">
            <a:solidFill>
              <a:srgbClr val="E8739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62351" y="701576"/>
            <a:ext cx="670173" cy="168176"/>
          </a:xfrm>
          <a:prstGeom prst="roundRect">
            <a:avLst>
              <a:gd name="adj" fmla="val 37758"/>
            </a:avLst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25752" y="714226"/>
            <a:ext cx="554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62351" y="882402"/>
            <a:ext cx="4158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time to + 动词.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762351" y="1142702"/>
            <a:ext cx="4158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1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表示"该做某事了"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22750" y="1444228"/>
            <a:ext cx="4318099" cy="323850"/>
          </a:xfrm>
          <a:prstGeom prst="roundRect">
            <a:avLst>
              <a:gd name="adj" fmla="val 31373"/>
            </a:avLst>
          </a:prstGeom>
          <a:solidFill>
            <a:srgbClr val="FFFFFF"/>
          </a:solidFill>
          <a:ln w="19050">
            <a:solidFill>
              <a:srgbClr val="F0E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743301" y="1501378"/>
            <a:ext cx="41585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time to get up.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622750" y="1818829"/>
            <a:ext cx="4318099" cy="323850"/>
          </a:xfrm>
          <a:prstGeom prst="roundRect">
            <a:avLst>
              <a:gd name="adj" fmla="val 31373"/>
            </a:avLst>
          </a:prstGeom>
          <a:solidFill>
            <a:srgbClr val="FFFFFF"/>
          </a:solidFill>
          <a:ln w="19050">
            <a:solidFill>
              <a:srgbClr val="F0E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43301" y="1875979"/>
            <a:ext cx="41585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time to go to school.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622750" y="2193429"/>
            <a:ext cx="4318099" cy="749052"/>
          </a:xfrm>
          <a:prstGeom prst="roundRect">
            <a:avLst>
              <a:gd name="adj" fmla="val 1695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641800" y="2193429"/>
            <a:ext cx="0" cy="749052"/>
          </a:xfrm>
          <a:prstGeom prst="line">
            <a:avLst/>
          </a:prstGeom>
          <a:noFill/>
          <a:ln w="38100">
            <a:solidFill>
              <a:srgbClr val="F0A03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62351" y="2250579"/>
            <a:ext cx="670173" cy="168176"/>
          </a:xfrm>
          <a:prstGeom prst="roundRect">
            <a:avLst>
              <a:gd name="adj" fmla="val 37758"/>
            </a:avLst>
          </a:prstGeom>
          <a:solidFill>
            <a:srgbClr val="FF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825752" y="2263229"/>
            <a:ext cx="554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A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3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762351" y="2431405"/>
            <a:ext cx="4158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time for + 名词.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762351" y="2691705"/>
            <a:ext cx="4158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1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表示"该做某事了"(接名词)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622750" y="2993231"/>
            <a:ext cx="4318099" cy="323850"/>
          </a:xfrm>
          <a:prstGeom prst="roundRect">
            <a:avLst>
              <a:gd name="adj" fmla="val 31373"/>
            </a:avLst>
          </a:prstGeom>
          <a:solidFill>
            <a:srgbClr val="FFF5F8"/>
          </a:solidFill>
          <a:ln w="19050">
            <a:solidFill>
              <a:srgbClr val="FFB6C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743301" y="3050381"/>
            <a:ext cx="41585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time for English class.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8226"/>
          </a:xfrm>
          <a:prstGeom prst="rect">
            <a:avLst/>
          </a:prstGeom>
          <a:solidFill>
            <a:srgbClr val="B5D8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82612"/>
            <a:ext cx="986879" cy="203002"/>
          </a:xfrm>
          <a:prstGeom prst="roundRect">
            <a:avLst>
              <a:gd name="adj" fmla="val 625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402" y="207913"/>
            <a:ext cx="7995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and say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980" y="88850"/>
            <a:ext cx="483983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日程表与对话练习 Tuesday Schedule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3150" y="631627"/>
            <a:ext cx="2908102" cy="4448473"/>
          </a:xfrm>
          <a:prstGeom prst="roundRect">
            <a:avLst>
              <a:gd name="adj" fmla="val 5241"/>
            </a:avLst>
          </a:prstGeom>
          <a:solidFill>
            <a:srgbClr val="FFFFFF"/>
          </a:solidFill>
          <a:ln w="19050">
            <a:solidFill>
              <a:srgbClr val="D4ED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3701" y="714077"/>
            <a:ext cx="2667000" cy="295275"/>
          </a:xfrm>
          <a:prstGeom prst="roundRect">
            <a:avLst>
              <a:gd name="adj" fmla="val 34409"/>
            </a:avLst>
          </a:prstGeom>
          <a:solidFill>
            <a:srgbClr val="B5D8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4755" y="752177"/>
            <a:ext cx="25648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3701" y="1047452"/>
            <a:ext cx="2667000" cy="260152"/>
          </a:xfrm>
          <a:prstGeom prst="roundRect">
            <a:avLst>
              <a:gd name="adj" fmla="val 24409"/>
            </a:avLst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4452" y="1091803"/>
            <a:ext cx="5958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7:00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8602" y="1072753"/>
            <a:ext cx="7863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up 起床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3701" y="1320254"/>
            <a:ext cx="2667000" cy="260152"/>
          </a:xfrm>
          <a:prstGeom prst="roundRect">
            <a:avLst>
              <a:gd name="adj" fmla="val 24409"/>
            </a:avLst>
          </a:prstGeom>
          <a:solidFill>
            <a:srgbClr val="F5FF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4452" y="1364605"/>
            <a:ext cx="5958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7:10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8602" y="1345555"/>
            <a:ext cx="9935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breakfast 早餐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3701" y="1593056"/>
            <a:ext cx="2667000" cy="260152"/>
          </a:xfrm>
          <a:prstGeom prst="roundRect">
            <a:avLst>
              <a:gd name="adj" fmla="val 24409"/>
            </a:avLst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4452" y="1637407"/>
            <a:ext cx="5958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7:30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8602" y="1618357"/>
            <a:ext cx="11924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school 上学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3701" y="1865858"/>
            <a:ext cx="2667000" cy="260152"/>
          </a:xfrm>
          <a:prstGeom prst="roundRect">
            <a:avLst>
              <a:gd name="adj" fmla="val 24409"/>
            </a:avLst>
          </a:prstGeom>
          <a:solidFill>
            <a:srgbClr val="F5FF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74452" y="1910209"/>
            <a:ext cx="5958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9:20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8602" y="1891159"/>
            <a:ext cx="13302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maths class 数学课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3701" y="2138660"/>
            <a:ext cx="2667000" cy="260152"/>
          </a:xfrm>
          <a:prstGeom prst="roundRect">
            <a:avLst>
              <a:gd name="adj" fmla="val 24409"/>
            </a:avLst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4452" y="2183011"/>
            <a:ext cx="5958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8602" y="2163961"/>
            <a:ext cx="7257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lunch 午餐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3701" y="2411462"/>
            <a:ext cx="2667000" cy="260152"/>
          </a:xfrm>
          <a:prstGeom prst="roundRect">
            <a:avLst>
              <a:gd name="adj" fmla="val 24409"/>
            </a:avLst>
          </a:prstGeom>
          <a:solidFill>
            <a:srgbClr val="F5FF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74452" y="2455813"/>
            <a:ext cx="5958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8602" y="2436763"/>
            <a:ext cx="10882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class 美术课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3701" y="2684264"/>
            <a:ext cx="2667000" cy="260152"/>
          </a:xfrm>
          <a:prstGeom prst="roundRect">
            <a:avLst>
              <a:gd name="adj" fmla="val 24409"/>
            </a:avLst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4452" y="2728615"/>
            <a:ext cx="5958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3:00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8602" y="2709565"/>
            <a:ext cx="7169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 体育课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12753" y="631627"/>
            <a:ext cx="5728097" cy="2192536"/>
          </a:xfrm>
          <a:prstGeom prst="roundRect">
            <a:avLst>
              <a:gd name="adj" fmla="val 6951"/>
            </a:avLst>
          </a:prstGeom>
          <a:solidFill>
            <a:srgbClr val="FFFFFF"/>
          </a:solidFill>
          <a:ln w="19050">
            <a:solidFill>
              <a:srgbClr val="F0E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33304" y="714077"/>
            <a:ext cx="653653" cy="193477"/>
          </a:xfrm>
          <a:prstGeom prst="roundRect">
            <a:avLst>
              <a:gd name="adj" fmla="val 39385"/>
            </a:avLst>
          </a:prstGeom>
          <a:solidFill>
            <a:srgbClr val="DDA0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409504" y="739378"/>
            <a:ext cx="5112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33304" y="945654"/>
            <a:ext cx="5596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</a:t>
            </a:r>
            <a:pPr algn="l" indent="0" marL="0"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time is it?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33304" y="1170980"/>
            <a:ext cx="5596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It's 7:30. It's time to go to school.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33304" y="1396305"/>
            <a:ext cx="5596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Yes!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212753" y="2887563"/>
            <a:ext cx="5728097" cy="2192536"/>
          </a:xfrm>
          <a:prstGeom prst="roundRect">
            <a:avLst>
              <a:gd name="adj" fmla="val 6951"/>
            </a:avLst>
          </a:prstGeom>
          <a:solidFill>
            <a:srgbClr val="FFFFFF"/>
          </a:solidFill>
          <a:ln w="19050">
            <a:solidFill>
              <a:srgbClr val="F0E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33304" y="2970014"/>
            <a:ext cx="924074" cy="193477"/>
          </a:xfrm>
          <a:prstGeom prst="roundRect">
            <a:avLst>
              <a:gd name="adj" fmla="val 39385"/>
            </a:avLst>
          </a:prstGeom>
          <a:solidFill>
            <a:srgbClr val="DDA0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409504" y="2995315"/>
            <a:ext cx="787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Yourself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33304" y="3201591"/>
            <a:ext cx="55967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用日程表中的其他时间，与同桌对话：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33304" y="3449241"/>
            <a:ext cx="5486995" cy="469702"/>
          </a:xfrm>
          <a:prstGeom prst="roundRect">
            <a:avLst>
              <a:gd name="adj" fmla="val 16223"/>
            </a:avLst>
          </a:prstGeom>
          <a:solidFill>
            <a:srgbClr val="F5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409504" y="3499991"/>
            <a:ext cx="54412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What time is it?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409504" y="3696742"/>
            <a:ext cx="54412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It's _____. It's time to/for _____.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8226"/>
          </a:xfrm>
          <a:prstGeom prst="rect">
            <a:avLst/>
          </a:prstGeom>
          <a:solidFill>
            <a:srgbClr val="87CE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zhanghao/Documents/my_code/vite-react/claude_files/english-course/workspace/slides/penc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" y="169813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8701" y="88850"/>
            <a:ext cx="346843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课堂练习 In-class Practice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7701" y="631627"/>
            <a:ext cx="4343549" cy="2198787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19050">
            <a:solidFill>
              <a:srgbClr val="D4ED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98252" y="70142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87CE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64480" y="731490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98252" y="929878"/>
            <a:ext cx="4184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the blanks 填空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8252" y="1183779"/>
            <a:ext cx="41844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time </a:t>
            </a:r>
            <a:pPr algn="l" indent="0" marL="0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</a:t>
            </a:r>
            <a:pPr algn="l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get up.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98252" y="1367879"/>
            <a:ext cx="41844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2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time </a:t>
            </a:r>
            <a:pPr algn="l" indent="0" marL="0">
              <a:spcBef>
                <a:spcPts val="100"/>
              </a:spcBef>
              <a:buNone/>
            </a:pPr>
            <a:r>
              <a:rPr lang="en-US" sz="12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</a:t>
            </a:r>
            <a:pPr algn="l" indent="0" marL="0">
              <a:spcBef>
                <a:spcPts val="100"/>
              </a:spcBef>
              <a:buNone/>
            </a:pPr>
            <a:r>
              <a:rPr lang="en-US" sz="12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English class.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98252" y="1551980"/>
            <a:ext cx="41844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2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</a:t>
            </a:r>
            <a:pPr algn="l" indent="0" marL="0">
              <a:spcBef>
                <a:spcPts val="100"/>
              </a:spcBef>
              <a:buNone/>
            </a:pPr>
            <a:r>
              <a:rPr lang="en-US" sz="12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it? It's 9:20.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77701" y="2881164"/>
            <a:ext cx="4343549" cy="2198936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19050">
            <a:solidFill>
              <a:srgbClr val="FFE4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98252" y="295096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B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64480" y="2981027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98252" y="3179415"/>
            <a:ext cx="4184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sentences 造句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98252" y="3420666"/>
            <a:ext cx="41844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2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用以下词汇造句：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98252" y="3642866"/>
            <a:ext cx="41844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200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school / lunch / PE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22750" y="631627"/>
            <a:ext cx="4343549" cy="1448991"/>
          </a:xfrm>
          <a:prstGeom prst="roundRect">
            <a:avLst>
              <a:gd name="adj" fmla="val 8765"/>
            </a:avLst>
          </a:prstGeom>
          <a:solidFill>
            <a:srgbClr val="FFFFFF"/>
          </a:solidFill>
          <a:ln w="19050">
            <a:solidFill>
              <a:srgbClr val="FFF0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743301" y="70142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09530" y="731490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43301" y="929878"/>
            <a:ext cx="4184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连线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622750" y="2131368"/>
            <a:ext cx="4343549" cy="1448991"/>
          </a:xfrm>
          <a:prstGeom prst="roundRect">
            <a:avLst>
              <a:gd name="adj" fmla="val 8765"/>
            </a:avLst>
          </a:prstGeom>
          <a:solidFill>
            <a:srgbClr val="FFFFFF"/>
          </a:solidFill>
          <a:ln w="19050">
            <a:solidFill>
              <a:srgbClr val="FFD7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743301" y="2402681"/>
            <a:ext cx="4102447" cy="0"/>
          </a:xfrm>
          <a:prstGeom prst="line">
            <a:avLst/>
          </a:prstGeom>
          <a:noFill/>
          <a:ln w="9525">
            <a:solidFill>
              <a:srgbClr val="FFF0C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43301" y="2213818"/>
            <a:ext cx="5827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7:00.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517035" y="2213818"/>
            <a:ext cx="3105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------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023920" y="2213818"/>
            <a:ext cx="8382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school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43301" y="2608957"/>
            <a:ext cx="4102447" cy="0"/>
          </a:xfrm>
          <a:prstGeom prst="line">
            <a:avLst/>
          </a:prstGeom>
          <a:noFill/>
          <a:ln w="9525">
            <a:solidFill>
              <a:srgbClr val="FFF0C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43301" y="2420094"/>
            <a:ext cx="5827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7:30.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16167" y="2420094"/>
            <a:ext cx="3105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------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422035" y="2420094"/>
            <a:ext cx="4321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up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743301" y="2815233"/>
            <a:ext cx="4102447" cy="0"/>
          </a:xfrm>
          <a:prstGeom prst="line">
            <a:avLst/>
          </a:prstGeom>
          <a:noFill/>
          <a:ln w="9525">
            <a:solidFill>
              <a:srgbClr val="FFF0C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43301" y="2626370"/>
            <a:ext cx="5827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9:20.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525667" y="2626370"/>
            <a:ext cx="3105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------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041184" y="2626370"/>
            <a:ext cx="8206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maths class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743301" y="3021509"/>
            <a:ext cx="4102447" cy="0"/>
          </a:xfrm>
          <a:prstGeom prst="line">
            <a:avLst/>
          </a:prstGeom>
          <a:noFill/>
          <a:ln w="9525">
            <a:solidFill>
              <a:srgbClr val="FFF0C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43301" y="2832646"/>
            <a:ext cx="5827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3:00.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826300" y="2832646"/>
            <a:ext cx="3105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------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642449" y="2832646"/>
            <a:ext cx="2073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622750" y="3631109"/>
            <a:ext cx="4343549" cy="1448991"/>
          </a:xfrm>
          <a:prstGeom prst="roundRect">
            <a:avLst>
              <a:gd name="adj" fmla="val 8765"/>
            </a:avLst>
          </a:prstGeom>
          <a:solidFill>
            <a:srgbClr val="FFFFFF"/>
          </a:solidFill>
          <a:ln w="19050">
            <a:solidFill>
              <a:srgbClr val="E8D5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743301" y="370090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DDA0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809530" y="3730972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743301" y="3929360"/>
            <a:ext cx="4184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Play 角色扮演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4743301" y="4170611"/>
            <a:ext cx="41844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2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两人一组，用 What time / It's time to/for 句型对话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8226"/>
          </a:xfrm>
          <a:prstGeom prst="rect">
            <a:avLst/>
          </a:prstGeom>
          <a:solidFill>
            <a:srgbClr val="FFB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zhanghao/Documents/my_code/vite-react/claude_files/english-course/workspace/slides/star-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" y="169813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8701" y="88850"/>
            <a:ext cx="335731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课堂总结 Class Summary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03150" y="644426"/>
            <a:ext cx="2844850" cy="1282005"/>
          </a:xfrm>
          <a:prstGeom prst="roundRect">
            <a:avLst>
              <a:gd name="adj" fmla="val 11888"/>
            </a:avLst>
          </a:prstGeom>
          <a:solidFill>
            <a:srgbClr val="FFFFFF"/>
          </a:solidFill>
          <a:ln w="19050">
            <a:solidFill>
              <a:srgbClr val="FFE4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23701" y="726877"/>
            <a:ext cx="762000" cy="260152"/>
          </a:xfrm>
          <a:prstGeom prst="roundRect">
            <a:avLst>
              <a:gd name="adj" fmla="val 29291"/>
            </a:avLst>
          </a:prstGeom>
          <a:solidFill>
            <a:srgbClr val="E0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99901" y="752177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时间表达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3701" y="1012329"/>
            <a:ext cx="26558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 is it?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3701" y="1225004"/>
            <a:ext cx="26558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7 o'clock.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3701" y="1437680"/>
            <a:ext cx="26558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8:30.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3701" y="1663005"/>
            <a:ext cx="26558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整点用 o'clock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49501" y="644426"/>
            <a:ext cx="2844998" cy="1282005"/>
          </a:xfrm>
          <a:prstGeom prst="roundRect">
            <a:avLst>
              <a:gd name="adj" fmla="val 11888"/>
            </a:avLst>
          </a:prstGeom>
          <a:solidFill>
            <a:srgbClr val="FFFFFF"/>
          </a:solidFill>
          <a:ln w="19050">
            <a:solidFill>
              <a:srgbClr val="FFE4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270052" y="726877"/>
            <a:ext cx="762000" cy="260152"/>
          </a:xfrm>
          <a:prstGeom prst="roundRect">
            <a:avLst>
              <a:gd name="adj" fmla="val 29291"/>
            </a:avLst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346252" y="752177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7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核心句型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70052" y="1012329"/>
            <a:ext cx="265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time to + </a:t>
            </a:r>
            <a:pPr algn="l" indent="0" marL="0">
              <a:buNone/>
            </a:pPr>
            <a:r>
              <a:rPr lang="en-US" sz="13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动词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270052" y="1253579"/>
            <a:ext cx="2655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up / go to school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270052" y="1421755"/>
            <a:ext cx="265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time for +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名词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270052" y="1675656"/>
            <a:ext cx="2655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class / lunch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96000" y="644426"/>
            <a:ext cx="2844850" cy="1282005"/>
          </a:xfrm>
          <a:prstGeom prst="roundRect">
            <a:avLst>
              <a:gd name="adj" fmla="val 11888"/>
            </a:avLst>
          </a:prstGeom>
          <a:solidFill>
            <a:srgbClr val="FFFFFF"/>
          </a:solidFill>
          <a:ln w="19050">
            <a:solidFill>
              <a:srgbClr val="FFE4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216551" y="726877"/>
            <a:ext cx="762000" cy="260152"/>
          </a:xfrm>
          <a:prstGeom prst="roundRect">
            <a:avLst>
              <a:gd name="adj" fmla="val 29291"/>
            </a:avLst>
          </a:prstGeom>
          <a:solidFill>
            <a:srgbClr val="FF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292751" y="752177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A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日常词汇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16551" y="1012329"/>
            <a:ext cx="26558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up / breakfast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16551" y="1225004"/>
            <a:ext cx="26558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school / lunch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16551" y="1437680"/>
            <a:ext cx="26558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maths / art / PE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216551" y="1663005"/>
            <a:ext cx="26558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A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掌握7个日常活动词汇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03150" y="1989832"/>
            <a:ext cx="8737699" cy="374452"/>
          </a:xfrm>
          <a:prstGeom prst="roundRect">
            <a:avLst>
              <a:gd name="adj" fmla="val 40699"/>
            </a:avLst>
          </a:prstGeom>
          <a:solidFill>
            <a:srgbClr val="FFFFFF"/>
          </a:solidFill>
          <a:ln w="19050">
            <a:solidFill>
              <a:srgbClr val="F0E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1" descr="/Users/zhanghao/Documents/my_code/vite-react/claude_files/english-course/workspace/slides/star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51" y="2088207"/>
            <a:ext cx="177701" cy="17770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77602" y="2072283"/>
            <a:ext cx="18653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学会用英语询问和表达时间</a:t>
            </a:r>
            <a:endParaRPr lang="en-US" sz="1200" dirty="0"/>
          </a:p>
        </p:txBody>
      </p:sp>
      <p:pic>
        <p:nvPicPr>
          <p:cNvPr id="29" name="Image 2" descr="/Users/zhanghao/Documents/my_code/vite-react/claude_files/english-course/workspace/slides/star-p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352" y="2088207"/>
            <a:ext cx="177701" cy="177701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761804" y="2072283"/>
            <a:ext cx="18014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区分 "time to" 和 "time for"</a:t>
            </a:r>
            <a:endParaRPr lang="en-US" sz="1200" dirty="0"/>
          </a:p>
        </p:txBody>
      </p:sp>
      <p:pic>
        <p:nvPicPr>
          <p:cNvPr id="31" name="Image 3" descr="/Users/zhanghao/Documents/my_code/vite-react/claude_files/english-course/workspace/slides/star-p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897" y="2088207"/>
            <a:ext cx="177701" cy="177701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883348" y="2072283"/>
            <a:ext cx="15544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养成良好时间管理习惯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hanghao/Documents/my_code/vite-react/claude_files/english-course/workspace/slides/cloud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2400"/>
            <a:ext cx="698450" cy="444401"/>
          </a:xfrm>
          <a:prstGeom prst="rect">
            <a:avLst/>
          </a:prstGeom>
        </p:spPr>
      </p:pic>
      <p:pic>
        <p:nvPicPr>
          <p:cNvPr id="3" name="Image 1" descr="/Users/zhanghao/Documents/my_code/vite-react/claude_files/english-course/workspace/slides/star-rainb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450" y="126950"/>
            <a:ext cx="355550" cy="355550"/>
          </a:xfrm>
          <a:prstGeom prst="rect">
            <a:avLst/>
          </a:prstGeom>
        </p:spPr>
      </p:pic>
      <p:pic>
        <p:nvPicPr>
          <p:cNvPr id="4" name="Image 2" descr="/Users/zhanghao/Documents/my_code/vite-react/claude_files/english-course/workspace/slides/be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4419600"/>
            <a:ext cx="571500" cy="571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27199" y="1360736"/>
            <a:ext cx="7289602" cy="2421880"/>
          </a:xfrm>
          <a:prstGeom prst="roundRect">
            <a:avLst>
              <a:gd name="adj" fmla="val 8390"/>
            </a:avLst>
          </a:prstGeom>
          <a:solidFill>
            <a:srgbClr val="FFFFFF">
              <a:alpha val="93000"/>
            </a:srgbClr>
          </a:solidFill>
          <a:ln w="38100">
            <a:solidFill>
              <a:srgbClr val="FFB6C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1143000" y="1500336"/>
            <a:ext cx="6858000" cy="466725"/>
          </a:xfrm>
          <a:prstGeom prst="roundRect">
            <a:avLst>
              <a:gd name="adj" fmla="val 21769"/>
            </a:avLst>
          </a:prstGeom>
          <a:solidFill>
            <a:srgbClr val="FFB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1203909" y="1538436"/>
            <a:ext cx="673618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课后作业 Homework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1143000" y="2017812"/>
            <a:ext cx="6858000" cy="368201"/>
          </a:xfrm>
          <a:prstGeom prst="roundRect">
            <a:avLst>
              <a:gd name="adj" fmla="val 27594"/>
            </a:avLst>
          </a:prstGeom>
          <a:solidFill>
            <a:srgbClr val="FFF8FC"/>
          </a:solidFill>
          <a:ln w="19050">
            <a:solidFill>
              <a:srgbClr val="FFE4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3" descr="/Users/zhanghao/Documents/my_code/vite-react/claude_files/english-course/workspace/slides/num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" y="2100263"/>
            <a:ext cx="203150" cy="2031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17600" y="2087612"/>
            <a:ext cx="47892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制作你的日程表</a:t>
            </a:r>
            <a:pPr algn="l" indent="0" marL="0"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用英语写出你一天的时间安排（至少5个活动）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1143000" y="2424113"/>
            <a:ext cx="6858000" cy="368201"/>
          </a:xfrm>
          <a:prstGeom prst="roundRect">
            <a:avLst>
              <a:gd name="adj" fmla="val 27594"/>
            </a:avLst>
          </a:prstGeom>
          <a:solidFill>
            <a:srgbClr val="FFF8FC"/>
          </a:solidFill>
          <a:ln w="19050">
            <a:solidFill>
              <a:srgbClr val="FFE4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4" descr="/Users/zhanghao/Documents/my_code/vite-react/claude_files/english-course/workspace/slides/num-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" y="2506563"/>
            <a:ext cx="203150" cy="2031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517600" y="2493913"/>
            <a:ext cx="36900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朗读对话</a:t>
            </a:r>
            <a:pPr algn="l" indent="0" marL="0"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大声朗读课本 Let's talk 部分的对话3遍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1143000" y="2830413"/>
            <a:ext cx="6858000" cy="368201"/>
          </a:xfrm>
          <a:prstGeom prst="roundRect">
            <a:avLst>
              <a:gd name="adj" fmla="val 27594"/>
            </a:avLst>
          </a:prstGeom>
          <a:solidFill>
            <a:srgbClr val="FFF8FC"/>
          </a:solidFill>
          <a:ln w="19050">
            <a:solidFill>
              <a:srgbClr val="FFE4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5" descr="/Users/zhanghao/Documents/my_code/vite-react/claude_files/english-course/workspace/slides/num-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250" y="2912864"/>
            <a:ext cx="203150" cy="2031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517600" y="2900214"/>
            <a:ext cx="3965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抄写重点句型</a:t>
            </a:r>
            <a:pPr algn="l" indent="0" marL="0"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It's time to... / It's time for... 各抄写2遍</a:t>
            </a:r>
            <a:endParaRPr lang="en-US" sz="1300" dirty="0"/>
          </a:p>
        </p:txBody>
      </p:sp>
      <p:sp>
        <p:nvSpPr>
          <p:cNvPr id="17" name="Text 9"/>
          <p:cNvSpPr/>
          <p:nvPr/>
        </p:nvSpPr>
        <p:spPr>
          <a:xfrm>
            <a:off x="1143000" y="3236714"/>
            <a:ext cx="6858000" cy="368201"/>
          </a:xfrm>
          <a:prstGeom prst="roundRect">
            <a:avLst>
              <a:gd name="adj" fmla="val 27594"/>
            </a:avLst>
          </a:prstGeom>
          <a:solidFill>
            <a:srgbClr val="FFF8FC"/>
          </a:solidFill>
          <a:ln w="19050">
            <a:solidFill>
              <a:srgbClr val="FFE4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6" descr="/Users/zhanghao/Documents/my_code/vite-react/claude_files/english-course/workspace/slides/num-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8250" y="3319165"/>
            <a:ext cx="203150" cy="2031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517600" y="3306514"/>
            <a:ext cx="42564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口语练习</a:t>
            </a:r>
            <a:pPr algn="l" indent="0" marL="0">
              <a:buNone/>
            </a:pPr>
            <a:r>
              <a:rPr lang="en-US" sz="1300" dirty="0">
                <a:solidFill>
                  <a:srgbClr val="5B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和家长用英语对话，练习 What time is it? 句型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can a good schedule help us?</dc:title>
  <dc:subject>PptxGenJS Presentation</dc:subject>
  <dc:creator>张浩</dc:creator>
  <cp:lastModifiedBy>张浩</cp:lastModifiedBy>
  <cp:revision>1</cp:revision>
  <dcterms:created xsi:type="dcterms:W3CDTF">2026-04-30T14:46:46Z</dcterms:created>
  <dcterms:modified xsi:type="dcterms:W3CDTF">2026-04-30T14:46:46Z</dcterms:modified>
</cp:coreProperties>
</file>